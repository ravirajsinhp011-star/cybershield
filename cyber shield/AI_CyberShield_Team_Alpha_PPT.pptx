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7BED2"/>
                </a:solidFill>
                <a:latin typeface="Aptos Display"/>
              </a:rPr>
              <a:t>AI CYBERSHIELD  |  TEAM ALPHA 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E1E9F3"/>
                </a:solidFill>
                <a:latin typeface="Aptos"/>
              </a:rPr>
              <a:t>AI-Powered Digital Threat Detection &amp; Cyber Safety Platform</a:t>
            </a:r>
          </a:p>
        </p:txBody>
      </p:sp>
      <p:pic>
        <p:nvPicPr>
          <p:cNvPr id="4" name="Picture 3" descr="a_wide_horizontal_futuristic_neon_cyber_tech_ban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10835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447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9BA9BC"/>
                </a:solidFill>
                <a:latin typeface="Aptos"/>
              </a:rPr>
              <a:t>5-Member Group  •  3 Cybersecurity + 2 Data Analysis  •  Competition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1. Why are we building this?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300" b="0">
                <a:solidFill>
                  <a:srgbClr val="9BA9BC"/>
                </a:solidFill>
                <a:latin typeface="Aptos"/>
              </a:rPr>
              <a:t>Problem → Solution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27432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900" b="1">
                <a:solidFill>
                  <a:srgbClr val="37BED2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81912"/>
            <a:ext cx="100584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Users regularly encounter phishing links, fake websites, scam messages and malicious QR codes.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7432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900" b="1">
                <a:solidFill>
                  <a:srgbClr val="37BED2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67712"/>
            <a:ext cx="100584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A normal user may not know whether a digital message or link is safe.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7432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900" b="1">
                <a:solidFill>
                  <a:srgbClr val="37BED2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53512"/>
            <a:ext cx="100584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Existing security tools can be difficult for non-technical users to understand.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27432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900" b="1">
                <a:solidFill>
                  <a:srgbClr val="37BED2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39312"/>
            <a:ext cx="100584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Our project combines detection with a simple explanation and safety recommendation.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900" b="0">
                <a:solidFill>
                  <a:srgbClr val="9BA9BC"/>
                </a:solidFill>
                <a:latin typeface="Aptos"/>
              </a:rPr>
              <a:t>AI CyberShield  •  Project Planning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2. What is AI CyberShield?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2148840" cy="182880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23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965960"/>
            <a:ext cx="181965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2395728"/>
            <a:ext cx="1819656" cy="11430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E1E9F3"/>
                </a:solidFill>
                <a:latin typeface="Aptos"/>
              </a:rPr>
              <a:t>URL / Message / QR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9191" y="2468880"/>
            <a:ext cx="32004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2000" b="1">
                <a:solidFill>
                  <a:srgbClr val="9BA9BC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828800"/>
            <a:ext cx="2148840" cy="182880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965960"/>
            <a:ext cx="181965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37BED2"/>
                </a:solidFill>
                <a:latin typeface="Aptos"/>
              </a:rPr>
              <a:t>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395728"/>
            <a:ext cx="1819656" cy="11430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E1E9F3"/>
                </a:solidFill>
                <a:latin typeface="Aptos"/>
              </a:rPr>
              <a:t>Security + AI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2468880"/>
            <a:ext cx="32004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2000" b="1">
                <a:solidFill>
                  <a:srgbClr val="9BA9BC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1828800"/>
            <a:ext cx="2148840" cy="182880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EEA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1" y="1965960"/>
            <a:ext cx="181965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EEA341"/>
                </a:solidFill>
                <a:latin typeface="Aptos"/>
              </a:rP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1" y="2395728"/>
            <a:ext cx="1819656" cy="11430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E1E9F3"/>
                </a:solidFill>
                <a:latin typeface="Aptos"/>
              </a:rPr>
              <a:t>Risk level +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1" y="2468880"/>
            <a:ext cx="32004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2000" b="1">
                <a:solidFill>
                  <a:srgbClr val="9BA9BC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828800"/>
            <a:ext cx="2148840" cy="182880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DC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671" y="1965960"/>
            <a:ext cx="181965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DC505A"/>
                </a:solidFill>
                <a:latin typeface="Aptos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1" y="2395728"/>
            <a:ext cx="1819656" cy="11430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E1E9F3"/>
                </a:solidFill>
                <a:latin typeface="Aptos"/>
              </a:rPr>
              <a:t>Why is it risky?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1" y="2468880"/>
            <a:ext cx="32004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2000" b="1">
                <a:solidFill>
                  <a:srgbClr val="9BA9B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1828800"/>
            <a:ext cx="2148840" cy="182880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3E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4392" y="1965960"/>
            <a:ext cx="181965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3EB478"/>
                </a:solidFill>
                <a:latin typeface="Aptos"/>
              </a:rPr>
              <a:t>PROTECT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4392" y="2395728"/>
            <a:ext cx="1819656" cy="11430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E1E9F3"/>
                </a:solidFill>
                <a:latin typeface="Aptos"/>
              </a:rPr>
              <a:t>Recommended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241280" cy="7315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800" b="1">
                <a:solidFill>
                  <a:srgbClr val="E1E9F3"/>
                </a:solidFill>
                <a:latin typeface="Aptos"/>
              </a:rPr>
              <a:t>Key idea: the system should not only say “dangerous”; it should explain the evidence behind the assessment.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900" b="0">
                <a:solidFill>
                  <a:srgbClr val="9BA9BC"/>
                </a:solidFill>
                <a:latin typeface="Aptos"/>
              </a:rPr>
              <a:t>AI CyberShield  •  Project Planning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3. 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50" b="0">
                <a:solidFill>
                  <a:srgbClr val="DCE5F0"/>
                </a:solidFill>
                <a:latin typeface="Aptos"/>
              </a:rPr>
              <a:t>The project is a platform, not a single detector.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154680" cy="15087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23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45919"/>
            <a:ext cx="282549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URL Threat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075688"/>
            <a:ext cx="2825496" cy="822959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50" b="0">
                <a:solidFill>
                  <a:srgbClr val="DCE5F0"/>
                </a:solidFill>
                <a:latin typeface="Aptos"/>
              </a:rPr>
              <a:t>Analyze URL characteristics and threat indicators.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508760"/>
            <a:ext cx="3154680" cy="15087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1645919"/>
            <a:ext cx="282549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37BED2"/>
                </a:solidFill>
                <a:latin typeface="Aptos"/>
              </a:rPr>
              <a:t>Phishing Message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2075688"/>
            <a:ext cx="2825496" cy="822959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50" b="0">
                <a:solidFill>
                  <a:srgbClr val="DCE5F0"/>
                </a:solidFill>
                <a:latin typeface="Aptos"/>
              </a:rPr>
              <a:t>Identify suspicious language, links and social-engineering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3154680" cy="15087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EEA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1645919"/>
            <a:ext cx="282549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EEA341"/>
                </a:solidFill>
                <a:latin typeface="Aptos"/>
              </a:rPr>
              <a:t>QR Security Scanner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2075688"/>
            <a:ext cx="2825496" cy="822959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50" b="0">
                <a:solidFill>
                  <a:srgbClr val="DCE5F0"/>
                </a:solidFill>
                <a:latin typeface="Aptos"/>
              </a:rPr>
              <a:t>Extract a QR URL and pass it through the threat pipeline.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11880"/>
            <a:ext cx="3154680" cy="15087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3E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749040"/>
            <a:ext cx="282549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3EB478"/>
                </a:solidFill>
                <a:latin typeface="Aptos"/>
              </a:rPr>
              <a:t>AI Cyber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178808"/>
            <a:ext cx="2825496" cy="822959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50" b="0">
                <a:solidFill>
                  <a:srgbClr val="DCE5F0"/>
                </a:solidFill>
                <a:latin typeface="Aptos"/>
              </a:rPr>
              <a:t>Explain threats and answer cybersecurity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611880"/>
            <a:ext cx="3154680" cy="15087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DC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3749040"/>
            <a:ext cx="282549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DC505A"/>
                </a:solidFill>
                <a:latin typeface="Aptos"/>
              </a:rPr>
              <a:t>Risk Scoring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4178808"/>
            <a:ext cx="2825496" cy="822959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50" b="0">
                <a:solidFill>
                  <a:srgbClr val="DCE5F0"/>
                </a:solidFill>
                <a:latin typeface="Aptos"/>
              </a:rPr>
              <a:t>Combine multiple indicators into an understandable risk level.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3611880"/>
            <a:ext cx="3154680" cy="15087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23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3749040"/>
            <a:ext cx="282549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Threat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1" y="4178808"/>
            <a:ext cx="2825496" cy="822959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50" b="0">
                <a:solidFill>
                  <a:srgbClr val="DCE5F0"/>
                </a:solidFill>
                <a:latin typeface="Aptos"/>
              </a:rPr>
              <a:t>Show scan history, trends, categories and risk distribution.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5486400"/>
            <a:ext cx="3154680" cy="15087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2032" y="5623560"/>
            <a:ext cx="282549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37BED2"/>
                </a:solidFill>
                <a:latin typeface="Aptos"/>
              </a:rPr>
              <a:t>Cyber Awareness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6053328"/>
            <a:ext cx="2825496" cy="822959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50" b="0">
                <a:solidFill>
                  <a:srgbClr val="DCE5F0"/>
                </a:solidFill>
                <a:latin typeface="Aptos"/>
              </a:rPr>
              <a:t>Quizzes and learning content on common attacks.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5486400"/>
            <a:ext cx="3154680" cy="15087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3E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5623560"/>
            <a:ext cx="282549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3EB478"/>
                </a:solidFill>
                <a:latin typeface="Aptos"/>
              </a:rPr>
              <a:t>Admin &amp;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6053328"/>
            <a:ext cx="2825496" cy="822959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50" b="0">
                <a:solidFill>
                  <a:srgbClr val="DCE5F0"/>
                </a:solidFill>
                <a:latin typeface="Aptos"/>
              </a:rPr>
              <a:t>Role-based access, logs, validation and administration.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150" b="0">
                <a:solidFill>
                  <a:srgbClr val="DCE5F0"/>
                </a:solidFill>
                <a:latin typeface="Aptos"/>
              </a:rPr>
              <a:t>AI CyberShield  •  Project Planning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1">
                <a:solidFill>
                  <a:srgbClr val="DCE5F0"/>
                </a:solidFill>
                <a:latin typeface="Aptos"/>
              </a:rPr>
              <a:t>4. Feature Deep Dive — URL Threat Analyzer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5120640" cy="42519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23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645919"/>
            <a:ext cx="4791455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USER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2075688"/>
            <a:ext cx="4791455" cy="35661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Enter a suspicious URL.</a:t>
            </a:r>
            <a:br/>
            <a:br/>
            <a:r>
              <a:rPr>
                <a:solidFill>
                  <a:srgbClr val="DCE5F0"/>
                </a:solidFill>
              </a:rPr>
              <a:t>Example:</a:t>
            </a:r>
            <a:br/>
            <a:r>
              <a:rPr>
                <a:solidFill>
                  <a:srgbClr val="DCE5F0"/>
                </a:solidFill>
              </a:rPr>
              <a:t>https://example.com/login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508760"/>
            <a:ext cx="5440680" cy="42519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45352" y="1645919"/>
            <a:ext cx="511149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37BED2"/>
                </a:solidFill>
                <a:latin typeface="Aptos"/>
              </a:rPr>
              <a:t>SYSTEM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2075688"/>
            <a:ext cx="5111496" cy="35661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• URL structure</a:t>
            </a:r>
            <a:br/>
            <a:r>
              <a:rPr>
                <a:solidFill>
                  <a:srgbClr val="DCE5F0"/>
                </a:solidFill>
              </a:rPr>
              <a:t>• HTTPS / protocol signals</a:t>
            </a:r>
            <a:br/>
            <a:r>
              <a:rPr>
                <a:solidFill>
                  <a:srgbClr val="DCE5F0"/>
                </a:solidFill>
              </a:rPr>
              <a:t>• Suspicious patterns</a:t>
            </a:r>
            <a:br/>
            <a:r>
              <a:rPr>
                <a:solidFill>
                  <a:srgbClr val="DCE5F0"/>
                </a:solidFill>
              </a:rPr>
              <a:t>• Domain-related signals</a:t>
            </a:r>
            <a:br/>
            <a:r>
              <a:rPr>
                <a:solidFill>
                  <a:srgbClr val="DCE5F0"/>
                </a:solidFill>
              </a:rPr>
              <a:t>• Reputation / threat-intelligence evidence where available</a:t>
            </a:r>
            <a:br/>
            <a:r>
              <a:rPr>
                <a:solidFill>
                  <a:srgbClr val="DCE5F0"/>
                </a:solidFill>
              </a:rPr>
              <a:t>• Other engineered security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989320"/>
            <a:ext cx="10149840" cy="4114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250" b="1">
                <a:solidFill>
                  <a:srgbClr val="DCE5F0"/>
                </a:solidFill>
                <a:latin typeface="Aptos"/>
              </a:rPr>
              <a:t>Output: Risk score + risk level + evidence + safety 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900" b="0">
                <a:solidFill>
                  <a:srgbClr val="DCE5F0"/>
                </a:solidFill>
                <a:latin typeface="Aptos"/>
              </a:rPr>
              <a:t>AI CyberShield  •  Project Planning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1">
                <a:solidFill>
                  <a:srgbClr val="DCE5F0"/>
                </a:solidFill>
                <a:latin typeface="Aptos"/>
              </a:rPr>
              <a:t>5. Feature Deep Dive — Phishing Message Detector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257800" cy="434340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23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600200"/>
            <a:ext cx="492861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2029968"/>
            <a:ext cx="4928616" cy="3657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Paste an SMS, email or suspicious message.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0"/>
            <a:ext cx="5440680" cy="434340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EEA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45352" y="1600200"/>
            <a:ext cx="511149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EEA341"/>
                </a:solidFill>
                <a:latin typeface="Aptos"/>
              </a:rPr>
              <a:t>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2029968"/>
            <a:ext cx="5111496" cy="3657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• Urgency / pressure</a:t>
            </a:r>
            <a:br/>
            <a:r>
              <a:rPr>
                <a:solidFill>
                  <a:srgbClr val="DCE5F0"/>
                </a:solidFill>
              </a:rPr>
              <a:t>• Fake reward or threat</a:t>
            </a:r>
            <a:br/>
            <a:r>
              <a:rPr>
                <a:solidFill>
                  <a:srgbClr val="DCE5F0"/>
                </a:solidFill>
              </a:rPr>
              <a:t>• Credential requests</a:t>
            </a:r>
            <a:br/>
            <a:r>
              <a:rPr>
                <a:solidFill>
                  <a:srgbClr val="DCE5F0"/>
                </a:solidFill>
              </a:rPr>
              <a:t>• Payment requests</a:t>
            </a:r>
            <a:br/>
            <a:r>
              <a:rPr>
                <a:solidFill>
                  <a:srgbClr val="DCE5F0"/>
                </a:solidFill>
              </a:rPr>
              <a:t>• Suspicious links</a:t>
            </a:r>
            <a:br/>
            <a:r>
              <a:rPr>
                <a:solidFill>
                  <a:srgbClr val="DCE5F0"/>
                </a:solidFill>
              </a:rPr>
              <a:t>• Social-engineering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10332720" cy="4114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250" b="1">
                <a:solidFill>
                  <a:srgbClr val="DCE5F0"/>
                </a:solidFill>
                <a:latin typeface="Aptos"/>
              </a:rPr>
              <a:t>Result example: “Likely Phishing” + reasons + recommended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900" b="0">
                <a:solidFill>
                  <a:srgbClr val="DCE5F0"/>
                </a:solidFill>
                <a:latin typeface="Aptos"/>
              </a:rPr>
              <a:t>AI CyberShield  •  Project Planning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6. Two “Wow”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257800" cy="429768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600200"/>
            <a:ext cx="492861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37BED2"/>
                </a:solidFill>
                <a:latin typeface="Aptos"/>
              </a:rPr>
              <a:t>📷 QR SECURITY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2029968"/>
            <a:ext cx="4928616" cy="36118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Scan QR</a:t>
            </a:r>
            <a:br/>
            <a:r>
              <a:rPr>
                <a:solidFill>
                  <a:srgbClr val="DCE5F0"/>
                </a:solidFill>
              </a:rPr>
              <a:t>↓</a:t>
            </a:r>
            <a:br/>
            <a:r>
              <a:rPr>
                <a:solidFill>
                  <a:srgbClr val="DCE5F0"/>
                </a:solidFill>
              </a:rPr>
              <a:t>Extract URL</a:t>
            </a:r>
            <a:br/>
            <a:r>
              <a:rPr>
                <a:solidFill>
                  <a:srgbClr val="DCE5F0"/>
                </a:solidFill>
              </a:rPr>
              <a:t>↓</a:t>
            </a:r>
            <a:br/>
            <a:r>
              <a:rPr>
                <a:solidFill>
                  <a:srgbClr val="DCE5F0"/>
                </a:solidFill>
              </a:rPr>
              <a:t>Run URL threat analysis</a:t>
            </a:r>
            <a:br/>
            <a:r>
              <a:rPr>
                <a:solidFill>
                  <a:srgbClr val="DCE5F0"/>
                </a:solidFill>
              </a:rPr>
              <a:t>↓</a:t>
            </a:r>
            <a:br/>
            <a:r>
              <a:rPr>
                <a:solidFill>
                  <a:srgbClr val="DCE5F0"/>
                </a:solidFill>
              </a:rPr>
              <a:t>Show risk + recommendation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0"/>
            <a:ext cx="5440680" cy="429768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3E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45352" y="1600200"/>
            <a:ext cx="511149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3EB478"/>
                </a:solidFill>
                <a:latin typeface="Aptos"/>
              </a:rPr>
              <a:t>🤖 AI CYBER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2029968"/>
            <a:ext cx="5111496" cy="36118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Ask:</a:t>
            </a:r>
            <a:br/>
            <a:r>
              <a:rPr>
                <a:solidFill>
                  <a:srgbClr val="DCE5F0"/>
                </a:solidFill>
              </a:rPr>
              <a:t>“Why is this suspicious?”</a:t>
            </a:r>
            <a:br/>
            <a:r>
              <a:rPr>
                <a:solidFill>
                  <a:srgbClr val="DCE5F0"/>
                </a:solidFill>
              </a:rPr>
              <a:t>“How do I stay safe?”</a:t>
            </a:r>
            <a:br/>
            <a:r>
              <a:rPr>
                <a:solidFill>
                  <a:srgbClr val="DCE5F0"/>
                </a:solidFill>
              </a:rPr>
              <a:t>“What is phishing?”</a:t>
            </a:r>
            <a:br/>
            <a:br/>
            <a:r>
              <a:rPr>
                <a:solidFill>
                  <a:srgbClr val="DCE5F0"/>
                </a:solidFill>
              </a:rPr>
              <a:t>AI gives a simple explanation.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900" b="0">
                <a:solidFill>
                  <a:srgbClr val="DCE5F0"/>
                </a:solidFill>
                <a:latin typeface="Aptos"/>
              </a:rPr>
              <a:t>AI CyberShield  •  Project Planning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7. Risk Scoring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514600" cy="205740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3E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965960"/>
            <a:ext cx="218541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3EB478"/>
                </a:solidFill>
                <a:latin typeface="Aptos"/>
              </a:rPr>
              <a:t>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2395728"/>
            <a:ext cx="2185416" cy="1371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E1E9F3"/>
                </a:solidFill>
                <a:latin typeface="Aptos"/>
              </a:rPr>
              <a:t>Lower-risk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14600" cy="205740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EEA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965960"/>
            <a:ext cx="218541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EEA341"/>
                </a:solidFill>
                <a:latin typeface="Aptos"/>
              </a:rP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93592" y="2395728"/>
            <a:ext cx="2185416" cy="1371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E1E9F3"/>
                </a:solidFill>
                <a:latin typeface="Aptos"/>
              </a:rPr>
              <a:t>Needs caution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514600" cy="205740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DC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965960"/>
            <a:ext cx="218541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DC505A"/>
                </a:solidFill>
                <a:latin typeface="Aptos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395728"/>
            <a:ext cx="2185416" cy="1371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E1E9F3"/>
                </a:solidFill>
                <a:latin typeface="Aptos"/>
              </a:rPr>
              <a:t>Strong warning signs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39" y="1828800"/>
            <a:ext cx="2514600" cy="205740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DC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71431" y="1965960"/>
            <a:ext cx="218541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DC505A"/>
                </a:solidFill>
                <a:latin typeface="Aptos"/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1431" y="2395728"/>
            <a:ext cx="2185416" cy="1371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E1E9F3"/>
                </a:solidFill>
                <a:latin typeface="Aptos"/>
              </a:rPr>
              <a:t>Very strong threat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0332720" cy="8686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600" b="1">
                <a:solidFill>
                  <a:srgbClr val="E1E9F3"/>
                </a:solidFill>
                <a:latin typeface="Aptos"/>
              </a:rPr>
              <a:t>Important: the score is an assessment, not a 100% guarantee. We will test and calibrate the model/logic using evidence and evaluation metrics.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900" b="0">
                <a:solidFill>
                  <a:srgbClr val="9BA9BC"/>
                </a:solidFill>
                <a:latin typeface="Aptos"/>
              </a:rPr>
              <a:t>AI CyberShield  •  Project Planning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8. Where Data Analysis 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54480"/>
            <a:ext cx="3474720" cy="19659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23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691639"/>
            <a:ext cx="314553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2366BE"/>
                </a:solidFill>
                <a:latin typeface="Aptos"/>
              </a:rPr>
              <a:t>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2121408"/>
            <a:ext cx="3145536" cy="12801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Store scan outcomes, indicators and categories safely.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19659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691639"/>
            <a:ext cx="314553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37BED2"/>
                </a:solidFill>
                <a:latin typeface="Aptos"/>
              </a:rPr>
              <a:t>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2121408"/>
            <a:ext cx="3145536" cy="12801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Remove duplicates, handle missing values and prepare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1554480"/>
            <a:ext cx="3474720" cy="19659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EEA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691639"/>
            <a:ext cx="314553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EEA341"/>
                </a:solidFill>
                <a:latin typeface="Aptos"/>
              </a:rPr>
              <a:t>FEATURE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121408"/>
            <a:ext cx="3145536" cy="12801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Find which signals correlate with suspicious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3474720" cy="19659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3E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023360"/>
            <a:ext cx="314553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3EB478"/>
                </a:solidFill>
                <a:latin typeface="Aptos"/>
              </a:rPr>
              <a:t>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453128"/>
            <a:ext cx="3145536" cy="12801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Charts for threat types, risk distribution and trends.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886200"/>
            <a:ext cx="3474720" cy="1965960"/>
          </a:xfrm>
          <a:prstGeom prst="roundRect">
            <a:avLst/>
          </a:prstGeom>
          <a:solidFill>
            <a:srgbClr val="161F30"/>
          </a:solidFill>
          <a:ln w="15240">
            <a:solidFill>
              <a:srgbClr val="DC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4023360"/>
            <a:ext cx="3145536" cy="384048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600" b="1">
                <a:solidFill>
                  <a:srgbClr val="DC505A"/>
                </a:solidFill>
                <a:latin typeface="Aptos"/>
              </a:rPr>
              <a:t>MODEL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4453128"/>
            <a:ext cx="3145536" cy="12801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Measure precision, recall, F1-score and false positives.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900" b="0">
                <a:solidFill>
                  <a:srgbClr val="DCE5F0"/>
                </a:solidFill>
                <a:latin typeface="Aptos"/>
              </a:rPr>
              <a:t>AI CyberShield  •  Project Planning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9. Where Cybersecurity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27432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800" b="1">
                <a:solidFill>
                  <a:srgbClr val="37BED2"/>
                </a:solidFill>
                <a:latin typeface="Aptos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99032"/>
            <a:ext cx="10149840" cy="502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Threat modeling: define what the platform must defend against.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27432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800" b="1">
                <a:solidFill>
                  <a:srgbClr val="37BED2"/>
                </a:solidFill>
                <a:latin typeface="Apto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10149840" cy="502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Authentication &amp; authorization: separate user and admin privileges.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34056"/>
            <a:ext cx="27432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800" b="1">
                <a:solidFill>
                  <a:srgbClr val="37BED2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15768"/>
            <a:ext cx="10149840" cy="502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Input validation: never trust user-controlled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92424"/>
            <a:ext cx="27432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800" b="1">
                <a:solidFill>
                  <a:srgbClr val="37BED2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74136"/>
            <a:ext cx="10149840" cy="502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Password security: store password hashes, never plain-text passwords.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50791"/>
            <a:ext cx="27432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800" b="1">
                <a:solidFill>
                  <a:srgbClr val="37BED2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32504"/>
            <a:ext cx="10149840" cy="502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API security: rate limiting, access control and secure error handling.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9159"/>
            <a:ext cx="27432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800" b="1">
                <a:solidFill>
                  <a:srgbClr val="37BED2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90872"/>
            <a:ext cx="10149840" cy="502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Logging &amp; monitoring: record important security events without exposing secrets.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67527"/>
            <a:ext cx="274320" cy="3200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800" b="1">
                <a:solidFill>
                  <a:srgbClr val="37BED2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49240"/>
            <a:ext cx="10149840" cy="502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250" b="0">
                <a:solidFill>
                  <a:srgbClr val="DCE5F0"/>
                </a:solidFill>
                <a:latin typeface="Aptos"/>
              </a:rPr>
              <a:t>Security testing: test misuse, invalid input, unauthorized access and abuse cases.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900" b="0">
                <a:solidFill>
                  <a:srgbClr val="DCE5F0"/>
                </a:solidFill>
                <a:latin typeface="Aptos"/>
              </a:rPr>
              <a:t>AI CyberShield  •  Project Planning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10. 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749808"/>
          </a:xfrm>
          <a:prstGeom prst="rect">
            <a:avLst/>
          </a:prstGeom>
          <a:solidFill>
            <a:srgbClr val="1B263A"/>
          </a:solidFill>
          <a:ln w="15240">
            <a:solidFill>
              <a:srgbClr val="2366BE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2366BE"/>
                </a:solidFill>
                <a:latin typeface="Aptos"/>
              </a:rPr>
              <a:t>Frontend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Web UI • Dashboard • QR 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332720" cy="749808"/>
          </a:xfrm>
          <a:prstGeom prst="rect">
            <a:avLst/>
          </a:prstGeom>
          <a:solidFill>
            <a:srgbClr val="1B263A"/>
          </a:solidFill>
          <a:ln w="15240">
            <a:solidFill>
              <a:srgbClr val="37BED2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7BED2"/>
                </a:solidFill>
                <a:latin typeface="Aptos"/>
              </a:rPr>
              <a:t>Backend API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Authentication • Validation • Business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32720" cy="749808"/>
          </a:xfrm>
          <a:prstGeom prst="rect">
            <a:avLst/>
          </a:prstGeom>
          <a:solidFill>
            <a:srgbClr val="1B263A"/>
          </a:solidFill>
          <a:ln w="15240">
            <a:solidFill>
              <a:srgbClr val="EEA341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EEA341"/>
                </a:solidFill>
                <a:latin typeface="Aptos"/>
              </a:rPr>
              <a:t>Detection Layer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URL analyzer • Message analyzer • QR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332720" cy="749808"/>
          </a:xfrm>
          <a:prstGeom prst="rect">
            <a:avLst/>
          </a:prstGeom>
          <a:solidFill>
            <a:srgbClr val="1B263A"/>
          </a:solidFill>
          <a:ln w="15240">
            <a:solidFill>
              <a:srgbClr val="3EB478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EB478"/>
                </a:solidFill>
                <a:latin typeface="Aptos"/>
              </a:rPr>
              <a:t>AI / Data Layer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NLP/ML • Feature engineering • Risk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32720" cy="749808"/>
          </a:xfrm>
          <a:prstGeom prst="rect">
            <a:avLst/>
          </a:prstGeom>
          <a:solidFill>
            <a:srgbClr val="1B263A"/>
          </a:solidFill>
          <a:ln w="15240">
            <a:solidFill>
              <a:srgbClr val="DC505A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DC505A"/>
                </a:solidFill>
                <a:latin typeface="Aptos"/>
              </a:rPr>
              <a:t>Data &amp; Intelligence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Database • Scan history • Threat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900" b="0">
                <a:solidFill>
                  <a:srgbClr val="9BA9BC"/>
                </a:solidFill>
                <a:latin typeface="Aptos"/>
              </a:rPr>
              <a:t>AI CyberShield  •  Project Planning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11. Team Roles — 5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804672"/>
          </a:xfrm>
          <a:prstGeom prst="rect">
            <a:avLst/>
          </a:prstGeom>
          <a:solidFill>
            <a:srgbClr val="1B263A"/>
          </a:solidFill>
          <a:ln w="15240">
            <a:solidFill>
              <a:srgbClr val="2366BE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2366BE"/>
                </a:solidFill>
                <a:latin typeface="Aptos"/>
              </a:rPr>
              <a:t>Member 1 — Cybersecurity Core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Threat modeling • URL/message analysis • security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12848"/>
            <a:ext cx="10698480" cy="804672"/>
          </a:xfrm>
          <a:prstGeom prst="rect">
            <a:avLst/>
          </a:prstGeom>
          <a:solidFill>
            <a:srgbClr val="1B263A"/>
          </a:solidFill>
          <a:ln w="15240">
            <a:solidFill>
              <a:srgbClr val="37BED2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7BED2"/>
                </a:solidFill>
                <a:latin typeface="Aptos"/>
              </a:rPr>
              <a:t>Member 2 — Cybersecurity Engineering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Authentication • Authorization • Secure APIs •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91256"/>
            <a:ext cx="10698480" cy="804672"/>
          </a:xfrm>
          <a:prstGeom prst="rect">
            <a:avLst/>
          </a:prstGeom>
          <a:solidFill>
            <a:srgbClr val="1B263A"/>
          </a:solidFill>
          <a:ln w="15240">
            <a:solidFill>
              <a:srgbClr val="EEA341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EEA341"/>
                </a:solidFill>
                <a:latin typeface="Aptos"/>
              </a:rPr>
              <a:t>Member 3 — Cybersecurity + Integration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Threat intelligence • Security testing • Module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9663"/>
            <a:ext cx="10698480" cy="804672"/>
          </a:xfrm>
          <a:prstGeom prst="rect">
            <a:avLst/>
          </a:prstGeom>
          <a:solidFill>
            <a:srgbClr val="1B263A"/>
          </a:solidFill>
          <a:ln w="15240">
            <a:solidFill>
              <a:srgbClr val="3EB478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EB478"/>
                </a:solidFill>
                <a:latin typeface="Aptos"/>
              </a:rPr>
              <a:t>Member 4 — Data Analysis / ML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Dataset • Cleaning • Features • Model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48072"/>
            <a:ext cx="10698480" cy="804672"/>
          </a:xfrm>
          <a:prstGeom prst="rect">
            <a:avLst/>
          </a:prstGeom>
          <a:solidFill>
            <a:srgbClr val="1B263A"/>
          </a:solidFill>
          <a:ln w="15240">
            <a:solidFill>
              <a:srgbClr val="DC505A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DC505A"/>
                </a:solidFill>
                <a:latin typeface="Aptos"/>
              </a:rPr>
              <a:t>Member 5 — Data Analysis / Dashboard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Visualization • Analytics • Dashboard •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900" b="0">
                <a:solidFill>
                  <a:srgbClr val="9BA9BC"/>
                </a:solidFill>
                <a:latin typeface="Aptos"/>
              </a:rPr>
              <a:t>AI CyberShield  •  Project Planning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12. Suggested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3429000" cy="1828800"/>
          </a:xfrm>
          <a:prstGeom prst="rect">
            <a:avLst/>
          </a:prstGeom>
          <a:solidFill>
            <a:srgbClr val="1B263A"/>
          </a:solidFill>
          <a:ln w="15240">
            <a:solidFill>
              <a:srgbClr val="2366BE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2366BE"/>
                </a:solidFill>
                <a:latin typeface="Aptos"/>
              </a:rPr>
              <a:t>Frontend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HTML • CSS • JavaScript</a:t>
            </a:r>
            <a:br/>
            <a:r>
              <a:t>React (optional)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325880"/>
            <a:ext cx="3429000" cy="1828800"/>
          </a:xfrm>
          <a:prstGeom prst="rect">
            <a:avLst/>
          </a:prstGeom>
          <a:solidFill>
            <a:srgbClr val="1B263A"/>
          </a:solidFill>
          <a:ln w="15240">
            <a:solidFill>
              <a:srgbClr val="37BED2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7BED2"/>
                </a:solidFill>
                <a:latin typeface="Aptos"/>
              </a:rPr>
              <a:t>Backend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Python + FastAPI</a:t>
            </a:r>
            <a:br/>
            <a:r>
              <a:t>REST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325880"/>
            <a:ext cx="3429000" cy="1828800"/>
          </a:xfrm>
          <a:prstGeom prst="rect">
            <a:avLst/>
          </a:prstGeom>
          <a:solidFill>
            <a:srgbClr val="1B263A"/>
          </a:solidFill>
          <a:ln w="15240">
            <a:solidFill>
              <a:srgbClr val="3EB478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EB478"/>
                </a:solidFill>
                <a:latin typeface="Aptos"/>
              </a:rPr>
              <a:t>Data / AI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Python • pandas</a:t>
            </a:r>
            <a:br/>
            <a:r>
              <a:t>scikit-learn •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3429000" cy="1828800"/>
          </a:xfrm>
          <a:prstGeom prst="rect">
            <a:avLst/>
          </a:prstGeom>
          <a:solidFill>
            <a:srgbClr val="1B263A"/>
          </a:solidFill>
          <a:ln w="15240">
            <a:solidFill>
              <a:srgbClr val="EEA341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EEA341"/>
                </a:solidFill>
                <a:latin typeface="Aptos"/>
              </a:rPr>
              <a:t>Database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PostgreSQL or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520440"/>
            <a:ext cx="3429000" cy="1828800"/>
          </a:xfrm>
          <a:prstGeom prst="rect">
            <a:avLst/>
          </a:prstGeom>
          <a:solidFill>
            <a:srgbClr val="1B263A"/>
          </a:solidFill>
          <a:ln w="15240">
            <a:solidFill>
              <a:srgbClr val="DC505A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DC505A"/>
                </a:solidFill>
                <a:latin typeface="Aptos"/>
              </a:rPr>
              <a:t>Security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Argon2id/bcrypt</a:t>
            </a:r>
            <a:br/>
            <a:r>
              <a:t>JWT/session •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520440"/>
            <a:ext cx="3429000" cy="1828800"/>
          </a:xfrm>
          <a:prstGeom prst="rect">
            <a:avLst/>
          </a:prstGeom>
          <a:solidFill>
            <a:srgbClr val="1B263A"/>
          </a:solidFill>
          <a:ln w="15240">
            <a:solidFill>
              <a:srgbClr val="37BED2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7BED2"/>
                </a:solidFill>
                <a:latin typeface="Aptos"/>
              </a:rPr>
              <a:t>Tools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VS Code • Git/GitHub</a:t>
            </a:r>
            <a:br/>
            <a:r>
              <a:t>Postman • Docker (optional)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900" b="0">
                <a:solidFill>
                  <a:srgbClr val="9BA9BC"/>
                </a:solidFill>
                <a:latin typeface="Aptos"/>
              </a:rPr>
              <a:t>AI CyberShield  •  Project Planning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13. Development Roadmap — Target: ~60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960120"/>
          </a:xfrm>
          <a:prstGeom prst="rect">
            <a:avLst/>
          </a:prstGeom>
          <a:solidFill>
            <a:srgbClr val="1B263A"/>
          </a:solidFill>
          <a:ln w="15240">
            <a:solidFill>
              <a:srgbClr val="2366BE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2366BE"/>
                </a:solidFill>
                <a:latin typeface="Aptos"/>
              </a:rPr>
              <a:t>Days 1–10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Requirements • UI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960120"/>
          </a:xfrm>
          <a:prstGeom prst="rect">
            <a:avLst/>
          </a:prstGeom>
          <a:solidFill>
            <a:srgbClr val="1B263A"/>
          </a:solidFill>
          <a:ln w="15240">
            <a:solidFill>
              <a:srgbClr val="37BED2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7BED2"/>
                </a:solidFill>
                <a:latin typeface="Aptos"/>
              </a:rPr>
              <a:t>Days 11–20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Database • Backend •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5303520" cy="960120"/>
          </a:xfrm>
          <a:prstGeom prst="rect">
            <a:avLst/>
          </a:prstGeom>
          <a:solidFill>
            <a:srgbClr val="1B263A"/>
          </a:solidFill>
          <a:ln w="15240">
            <a:solidFill>
              <a:srgbClr val="EEA341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EEA341"/>
                </a:solidFill>
                <a:latin typeface="Aptos"/>
              </a:rPr>
              <a:t>Days 21–32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URL + Message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514600"/>
            <a:ext cx="5303520" cy="960120"/>
          </a:xfrm>
          <a:prstGeom prst="rect">
            <a:avLst/>
          </a:prstGeom>
          <a:solidFill>
            <a:srgbClr val="1B263A"/>
          </a:solidFill>
          <a:ln w="15240">
            <a:solidFill>
              <a:srgbClr val="3EB478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EB478"/>
                </a:solidFill>
                <a:latin typeface="Aptos"/>
              </a:rPr>
              <a:t>Days 33–40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QR Scanner + Risk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5303520" cy="960120"/>
          </a:xfrm>
          <a:prstGeom prst="rect">
            <a:avLst/>
          </a:prstGeom>
          <a:solidFill>
            <a:srgbClr val="1B263A"/>
          </a:solidFill>
          <a:ln w="15240">
            <a:solidFill>
              <a:srgbClr val="DC505A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DC505A"/>
                </a:solidFill>
                <a:latin typeface="Aptos"/>
              </a:rPr>
              <a:t>Days 41–48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AI/ML + Assistant +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749039"/>
            <a:ext cx="5303520" cy="960120"/>
          </a:xfrm>
          <a:prstGeom prst="rect">
            <a:avLst/>
          </a:prstGeom>
          <a:solidFill>
            <a:srgbClr val="1B263A"/>
          </a:solidFill>
          <a:ln w="15240">
            <a:solidFill>
              <a:srgbClr val="37BED2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7BED2"/>
                </a:solidFill>
                <a:latin typeface="Aptos"/>
              </a:rPr>
              <a:t>Days 49–55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Security Testing +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983480"/>
            <a:ext cx="5303520" cy="960120"/>
          </a:xfrm>
          <a:prstGeom prst="rect">
            <a:avLst/>
          </a:prstGeom>
          <a:solidFill>
            <a:srgbClr val="1B263A"/>
          </a:solidFill>
          <a:ln w="15240">
            <a:solidFill>
              <a:srgbClr val="2366BE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2366BE"/>
                </a:solidFill>
                <a:latin typeface="Aptos"/>
              </a:rPr>
              <a:t>Days 56–60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Documentation • PPT • Demo • Viva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900" b="0">
                <a:solidFill>
                  <a:srgbClr val="9BA9BC"/>
                </a:solidFill>
                <a:latin typeface="Aptos"/>
              </a:rPr>
              <a:t>AI CyberShield  •  Project Planning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14. Competition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3383280" cy="713232"/>
          </a:xfrm>
          <a:prstGeom prst="rect">
            <a:avLst/>
          </a:prstGeom>
          <a:solidFill>
            <a:srgbClr val="1B263A"/>
          </a:solidFill>
          <a:ln w="15240">
            <a:solidFill>
              <a:srgbClr val="2366BE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2366BE"/>
                </a:solidFill>
                <a:latin typeface="Aptos"/>
              </a:rPr>
              <a:t>1. Open CyberShield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Landing /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234440"/>
            <a:ext cx="3383280" cy="713232"/>
          </a:xfrm>
          <a:prstGeom prst="rect">
            <a:avLst/>
          </a:prstGeom>
          <a:solidFill>
            <a:srgbClr val="1B263A"/>
          </a:solidFill>
          <a:ln w="15240">
            <a:solidFill>
              <a:srgbClr val="37BED2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7BED2"/>
                </a:solidFill>
                <a:latin typeface="Aptos"/>
              </a:rPr>
              <a:t>2. Scan URL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Analysis + risk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34440"/>
            <a:ext cx="3383280" cy="713232"/>
          </a:xfrm>
          <a:prstGeom prst="rect">
            <a:avLst/>
          </a:prstGeom>
          <a:solidFill>
            <a:srgbClr val="1B263A"/>
          </a:solidFill>
          <a:ln w="15240">
            <a:solidFill>
              <a:srgbClr val="EEA341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EEA341"/>
                </a:solidFill>
                <a:latin typeface="Aptos"/>
              </a:rPr>
              <a:t>3. Phishing Message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Indicators +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3383280" cy="713232"/>
          </a:xfrm>
          <a:prstGeom prst="rect">
            <a:avLst/>
          </a:prstGeom>
          <a:solidFill>
            <a:srgbClr val="1B263A"/>
          </a:solidFill>
          <a:ln w="15240">
            <a:solidFill>
              <a:srgbClr val="3EB478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EB478"/>
                </a:solidFill>
                <a:latin typeface="Aptos"/>
              </a:rPr>
              <a:t>4. Scan QR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QR → URL →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31720"/>
            <a:ext cx="3383280" cy="713232"/>
          </a:xfrm>
          <a:prstGeom prst="rect">
            <a:avLst/>
          </a:prstGeom>
          <a:solidFill>
            <a:srgbClr val="1B263A"/>
          </a:solidFill>
          <a:ln w="15240">
            <a:solidFill>
              <a:srgbClr val="DC505A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DC505A"/>
                </a:solidFill>
                <a:latin typeface="Aptos"/>
              </a:rPr>
              <a:t>5. Ask AI Assistant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Explain the threat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331720"/>
            <a:ext cx="3383280" cy="713232"/>
          </a:xfrm>
          <a:prstGeom prst="rect">
            <a:avLst/>
          </a:prstGeom>
          <a:solidFill>
            <a:srgbClr val="1B263A"/>
          </a:solidFill>
          <a:ln w="15240">
            <a:solidFill>
              <a:srgbClr val="2366BE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2366BE"/>
                </a:solidFill>
                <a:latin typeface="Aptos"/>
              </a:rPr>
              <a:t>6. Open Dashboard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Analytics + threat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900" b="0">
                <a:solidFill>
                  <a:srgbClr val="9BA9BC"/>
                </a:solidFill>
                <a:latin typeface="Aptos"/>
              </a:rPr>
              <a:t>AI CyberShield  •  Project Planning  |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9966960" cy="1325880"/>
          </a:xfrm>
          <a:prstGeom prst="rect">
            <a:avLst/>
          </a:prstGeom>
          <a:solidFill>
            <a:srgbClr val="1B263A"/>
          </a:solidFill>
          <a:ln>
            <a:solidFill>
              <a:srgbClr val="37BED2"/>
            </a:solidFill>
          </a:ln>
        </p:spPr>
        <p:txBody>
          <a:bodyPr wrap="square" lIns="146304" rIns="146304" tIns="91440" bIns="73152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LIVE DEMO SEQUENCE</a:t>
            </a:r>
            <a:br/>
            <a:r>
              <a:t>Input → Detection → Risk Score → Explanation → Recommendation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15. 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257800" cy="1234440"/>
          </a:xfrm>
          <a:prstGeom prst="rect">
            <a:avLst/>
          </a:prstGeom>
          <a:solidFill>
            <a:srgbClr val="1B263A"/>
          </a:solidFill>
          <a:ln w="15240">
            <a:solidFill>
              <a:srgbClr val="2366BE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2366BE"/>
                </a:solidFill>
                <a:latin typeface="Aptos"/>
              </a:rPr>
              <a:t>Functional Testing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Valid/invalid URLs, messages, QR inputs and user 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25880"/>
            <a:ext cx="5257800" cy="1234440"/>
          </a:xfrm>
          <a:prstGeom prst="rect">
            <a:avLst/>
          </a:prstGeom>
          <a:solidFill>
            <a:srgbClr val="1B263A"/>
          </a:solidFill>
          <a:ln w="15240">
            <a:solidFill>
              <a:srgbClr val="DC505A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DC505A"/>
                </a:solidFill>
                <a:latin typeface="Aptos"/>
              </a:rPr>
              <a:t>Security Testing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Unauthorized access, injection attempts, auth abuse and rate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5257800" cy="1234440"/>
          </a:xfrm>
          <a:prstGeom prst="rect">
            <a:avLst/>
          </a:prstGeom>
          <a:solidFill>
            <a:srgbClr val="1B263A"/>
          </a:solidFill>
          <a:ln w="15240">
            <a:solidFill>
              <a:srgbClr val="3EB478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EB478"/>
                </a:solidFill>
                <a:latin typeface="Aptos"/>
              </a:rPr>
              <a:t>Model / Data Testing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Precision • Recall • F1-score • confusion matrix • false positives.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880360"/>
            <a:ext cx="5257800" cy="1234440"/>
          </a:xfrm>
          <a:prstGeom prst="rect">
            <a:avLst/>
          </a:prstGeom>
          <a:solidFill>
            <a:srgbClr val="1B263A"/>
          </a:solidFill>
          <a:ln w="15240">
            <a:solidFill>
              <a:srgbClr val="37BED2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7BED2"/>
                </a:solidFill>
                <a:latin typeface="Aptos"/>
              </a:rPr>
              <a:t>Usability Testing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Clear results, understandable explanations and responsive 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4434840"/>
            <a:ext cx="5257800" cy="1234440"/>
          </a:xfrm>
          <a:prstGeom prst="rect">
            <a:avLst/>
          </a:prstGeom>
          <a:solidFill>
            <a:srgbClr val="1B263A"/>
          </a:solidFill>
          <a:ln w="15240">
            <a:solidFill>
              <a:srgbClr val="EEA341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EEA341"/>
                </a:solidFill>
                <a:latin typeface="Aptos"/>
              </a:rPr>
              <a:t>Integration Testing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Verify frontend, backend, AI/ML and database work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900" b="0">
                <a:solidFill>
                  <a:srgbClr val="9BA9BC"/>
                </a:solidFill>
                <a:latin typeface="Aptos"/>
              </a:rPr>
              <a:t>AI CyberShield  •  Project Planning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16. Final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2606040" cy="1600200"/>
          </a:xfrm>
          <a:prstGeom prst="rect">
            <a:avLst/>
          </a:prstGeom>
          <a:solidFill>
            <a:srgbClr val="1B263A"/>
          </a:solidFill>
          <a:ln w="15240">
            <a:solidFill>
              <a:srgbClr val="2366BE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2366BE"/>
                </a:solidFill>
                <a:latin typeface="Aptos"/>
              </a:rPr>
              <a:t>Working Platform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End-to-end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234440"/>
            <a:ext cx="2606040" cy="1600200"/>
          </a:xfrm>
          <a:prstGeom prst="rect">
            <a:avLst/>
          </a:prstGeom>
          <a:solidFill>
            <a:srgbClr val="1B263A"/>
          </a:solidFill>
          <a:ln w="15240">
            <a:solidFill>
              <a:srgbClr val="37BED2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7BED2"/>
                </a:solidFill>
                <a:latin typeface="Aptos"/>
              </a:rPr>
              <a:t>Source Code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Organized repository + README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234440"/>
            <a:ext cx="2606040" cy="1600200"/>
          </a:xfrm>
          <a:prstGeom prst="rect">
            <a:avLst/>
          </a:prstGeom>
          <a:solidFill>
            <a:srgbClr val="1B263A"/>
          </a:solidFill>
          <a:ln w="15240">
            <a:solidFill>
              <a:srgbClr val="3EB478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EB478"/>
                </a:solidFill>
                <a:latin typeface="Aptos"/>
              </a:rPr>
              <a:t>Database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Schema + test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234440"/>
            <a:ext cx="2514600" cy="1600200"/>
          </a:xfrm>
          <a:prstGeom prst="rect">
            <a:avLst/>
          </a:prstGeom>
          <a:solidFill>
            <a:srgbClr val="1B263A"/>
          </a:solidFill>
          <a:ln w="15240">
            <a:solidFill>
              <a:srgbClr val="EEA341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EEA341"/>
                </a:solidFill>
                <a:latin typeface="Aptos"/>
              </a:rPr>
              <a:t>Project Report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Architecture + testing +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46120"/>
            <a:ext cx="2606040" cy="1600200"/>
          </a:xfrm>
          <a:prstGeom prst="rect">
            <a:avLst/>
          </a:prstGeom>
          <a:solidFill>
            <a:srgbClr val="1B263A"/>
          </a:solidFill>
          <a:ln w="15240">
            <a:solidFill>
              <a:srgbClr val="DC505A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DC505A"/>
                </a:solidFill>
                <a:latin typeface="Aptos"/>
              </a:rPr>
              <a:t>PPT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Competition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3246120"/>
            <a:ext cx="2606040" cy="1600200"/>
          </a:xfrm>
          <a:prstGeom prst="rect">
            <a:avLst/>
          </a:prstGeom>
          <a:solidFill>
            <a:srgbClr val="1B263A"/>
          </a:solidFill>
          <a:ln w="15240">
            <a:solidFill>
              <a:srgbClr val="37BED2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7BED2"/>
                </a:solidFill>
                <a:latin typeface="Aptos"/>
              </a:rPr>
              <a:t>Demo Script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Fixed sequence + backup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246120"/>
            <a:ext cx="2606040" cy="1600200"/>
          </a:xfrm>
          <a:prstGeom prst="rect">
            <a:avLst/>
          </a:prstGeom>
          <a:solidFill>
            <a:srgbClr val="1B263A"/>
          </a:solidFill>
          <a:ln w="15240">
            <a:solidFill>
              <a:srgbClr val="2366BE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2366BE"/>
                </a:solidFill>
                <a:latin typeface="Aptos"/>
              </a:rPr>
              <a:t>Viva Prep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Technical + project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3246120"/>
            <a:ext cx="2514600" cy="1600200"/>
          </a:xfrm>
          <a:prstGeom prst="rect">
            <a:avLst/>
          </a:prstGeom>
          <a:solidFill>
            <a:srgbClr val="1B263A"/>
          </a:solidFill>
          <a:ln w="15240">
            <a:solidFill>
              <a:srgbClr val="3EB478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EB478"/>
                </a:solidFill>
                <a:latin typeface="Aptos"/>
              </a:rPr>
              <a:t>Future Scope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Post-college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900" b="0">
                <a:solidFill>
                  <a:srgbClr val="9BA9BC"/>
                </a:solidFill>
                <a:latin typeface="Aptos"/>
              </a:rPr>
              <a:t>AI CyberShield  •  Project Planning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17.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257800" cy="1097280"/>
          </a:xfrm>
          <a:prstGeom prst="rect">
            <a:avLst/>
          </a:prstGeom>
          <a:solidFill>
            <a:srgbClr val="1B263A"/>
          </a:solidFill>
          <a:ln w="15240">
            <a:solidFill>
              <a:srgbClr val="2366BE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2366BE"/>
                </a:solidFill>
                <a:latin typeface="Aptos"/>
              </a:rPr>
              <a:t>Mobile App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Android / iOS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25880"/>
            <a:ext cx="5257800" cy="1097280"/>
          </a:xfrm>
          <a:prstGeom prst="rect">
            <a:avLst/>
          </a:prstGeom>
          <a:solidFill>
            <a:srgbClr val="1B263A"/>
          </a:solidFill>
          <a:ln w="15240">
            <a:solidFill>
              <a:srgbClr val="37BED2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7BED2"/>
                </a:solidFill>
                <a:latin typeface="Aptos"/>
              </a:rPr>
              <a:t>Browser Extension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On-page URL warnings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5257800" cy="1097280"/>
          </a:xfrm>
          <a:prstGeom prst="rect">
            <a:avLst/>
          </a:prstGeom>
          <a:solidFill>
            <a:srgbClr val="1B263A"/>
          </a:solidFill>
          <a:ln w="15240">
            <a:solidFill>
              <a:srgbClr val="EEA341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EEA341"/>
                </a:solidFill>
                <a:latin typeface="Aptos"/>
              </a:rPr>
              <a:t>Threat Intelligence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More security-data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743200"/>
            <a:ext cx="5257800" cy="1097280"/>
          </a:xfrm>
          <a:prstGeom prst="rect">
            <a:avLst/>
          </a:prstGeom>
          <a:solidFill>
            <a:srgbClr val="1B263A"/>
          </a:solidFill>
          <a:ln w="15240">
            <a:solidFill>
              <a:srgbClr val="3EB478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3EB478"/>
                </a:solidFill>
                <a:latin typeface="Aptos"/>
              </a:rPr>
              <a:t>Multilingual Analysis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Broader phishing-message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5257800" cy="1097280"/>
          </a:xfrm>
          <a:prstGeom prst="rect">
            <a:avLst/>
          </a:prstGeom>
          <a:solidFill>
            <a:srgbClr val="1B263A"/>
          </a:solidFill>
          <a:ln w="15240">
            <a:solidFill>
              <a:srgbClr val="DC505A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DC505A"/>
                </a:solidFill>
                <a:latin typeface="Aptos"/>
              </a:rPr>
              <a:t>Model Improvement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Continuous evaluation + retraining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160520"/>
            <a:ext cx="5257800" cy="1097280"/>
          </a:xfrm>
          <a:prstGeom prst="rect">
            <a:avLst/>
          </a:prstGeom>
          <a:solidFill>
            <a:srgbClr val="1B263A"/>
          </a:solidFill>
          <a:ln w="15240">
            <a:solidFill>
              <a:srgbClr val="2366BE"/>
            </a:solidFill>
          </a:ln>
        </p:spPr>
        <p:txBody>
          <a:bodyPr wrap="square" lIns="182880" rIns="182880" tIns="109728" bIns="91440">
            <a:spAutoFit/>
          </a:bodyPr>
          <a:lstStyle/>
          <a:p>
            <a:r>
              <a:rPr sz="1500" b="1">
                <a:solidFill>
                  <a:srgbClr val="2366BE"/>
                </a:solidFill>
                <a:latin typeface="Aptos"/>
              </a:rPr>
              <a:t>Organization Analytics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DCE5F0"/>
                </a:solidFill>
                <a:latin typeface="Aptos"/>
              </a:rPr>
              <a:t>Privacy-aware college/company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 lIns="146304" rIns="146304" tIns="91440" bIns="73152">
            <a:spAutoFit/>
          </a:bodyPr>
          <a:lstStyle/>
          <a:p>
            <a:pPr algn="l"/>
            <a:r>
              <a:rPr sz="900" b="0">
                <a:solidFill>
                  <a:srgbClr val="9BA9BC"/>
                </a:solidFill>
                <a:latin typeface="Aptos"/>
              </a:rPr>
              <a:t>AI CyberShield  •  Project Planning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3400" b="1">
                <a:solidFill>
                  <a:srgbClr val="F5F8FC"/>
                </a:solidFill>
                <a:latin typeface="Aptos"/>
              </a:rPr>
              <a:t>AI CYBERSHIELD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698480" cy="50292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2300" b="1">
                <a:solidFill>
                  <a:srgbClr val="37BED2"/>
                </a:solidFill>
                <a:latin typeface="Aptos"/>
              </a:rPr>
              <a:t>Detect • Analyze • Explain • Protect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926080"/>
            <a:ext cx="9692640" cy="123444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800" b="0">
                <a:solidFill>
                  <a:srgbClr val="E1E9F3"/>
                </a:solidFill>
                <a:latin typeface="Aptos"/>
              </a:rPr>
              <a:t>Our goal is not just to build a college project.</a:t>
            </a:r>
            <a:br/>
            <a:r>
              <a:rPr>
                <a:solidFill/>
              </a:rPr>
              <a:t>We want to build a security-focused product that demonstrates</a:t>
            </a:r>
            <a:br/>
            <a:r>
              <a:rPr>
                <a:solidFill/>
              </a:rPr>
              <a:t>Cybersecurity + Data Analysis + AI in one working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500" b="1">
                <a:solidFill>
                  <a:srgbClr val="3EB478"/>
                </a:solidFill>
                <a:latin typeface="Aptos"/>
              </a:rPr>
              <a:t>Next step: finalize scope → assign modules → choose stack → start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